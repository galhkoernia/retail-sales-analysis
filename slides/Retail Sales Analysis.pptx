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1" r:id="rId4"/>
    <p:sldId id="258" r:id="rId5"/>
    <p:sldId id="259" r:id="rId6"/>
    <p:sldId id="260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2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0292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06DE8-24F5-4DB9-43A6-A34538B78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985B00-D7BE-889D-571F-D72264B34C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4A9B99-43C2-7834-1AF9-167E5FEFC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AA0FEC-0113-8120-3FCB-6E465B0DE7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4169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galuh-kurnia-pratama-a25b9b325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/>
          <p:nvPr/>
        </p:nvSpPr>
        <p:spPr>
          <a:xfrm>
            <a:off x="4663440" y="2286000"/>
            <a:ext cx="7040880" cy="1554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5000" b="1" dirty="0">
                <a:solidFill>
                  <a:schemeClr val="accent2">
                    <a:lumMod val="75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SALES PERFORMANCE</a:t>
            </a:r>
            <a:endParaRPr lang="en-US" sz="5000" dirty="0">
              <a:solidFill>
                <a:schemeClr val="accent2">
                  <a:lumMod val="75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l">
              <a:buNone/>
            </a:pPr>
            <a:r>
              <a:rPr lang="en-US" sz="5000" b="1" dirty="0">
                <a:solidFill>
                  <a:schemeClr val="accent2">
                    <a:lumMod val="75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ANALYSIS</a:t>
            </a:r>
            <a:endParaRPr lang="en-US" sz="5000" dirty="0">
              <a:solidFill>
                <a:schemeClr val="accent2">
                  <a:lumMod val="75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602480" y="3923323"/>
            <a:ext cx="7040880" cy="11144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Analisis Data Penjualan Classic Models menggunakan Python</a:t>
            </a:r>
          </a:p>
        </p:txBody>
      </p:sp>
      <p:sp>
        <p:nvSpPr>
          <p:cNvPr id="5" name="Text 3"/>
          <p:cNvSpPr/>
          <p:nvPr/>
        </p:nvSpPr>
        <p:spPr>
          <a:xfrm>
            <a:off x="4663440" y="5120640"/>
            <a:ext cx="451963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333333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Galuh</a:t>
            </a:r>
            <a:r>
              <a:rPr lang="en-US" sz="1500" b="1" dirty="0">
                <a:solidFill>
                  <a:srgbClr val="333333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Kurnia Pratama</a:t>
            </a:r>
          </a:p>
          <a:p>
            <a:pPr marL="0" indent="0">
              <a:buNone/>
            </a:pPr>
            <a:r>
              <a:rPr lang="en-US" sz="1500" b="1" dirty="0" err="1">
                <a:solidFill>
                  <a:srgbClr val="333333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Mahasiswa</a:t>
            </a:r>
            <a:r>
              <a:rPr lang="en-US" sz="1500" b="1" dirty="0">
                <a:solidFill>
                  <a:srgbClr val="333333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Fisika – Universitas Negeri Surabaya</a:t>
            </a:r>
            <a:endParaRPr lang="en-US" sz="1500" b="1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500" b="1" dirty="0" err="1">
                <a:solidFill>
                  <a:srgbClr val="FFFF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RevoU</a:t>
            </a:r>
            <a:r>
              <a:rPr lang="en-US" sz="3500" b="1" dirty="0">
                <a:solidFill>
                  <a:srgbClr val="FFFF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Mini Course Data Analytics</a:t>
            </a:r>
            <a:endParaRPr lang="en-US" sz="35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Case Study – Mini Course Data Analytics </a:t>
            </a:r>
            <a:r>
              <a:rPr lang="en-US" sz="2800" b="1" dirty="0" err="1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RevoU</a:t>
            </a:r>
            <a:endParaRPr lang="en-US" sz="2800" dirty="0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4984652" cy="5355102"/>
          </a:xfrm>
          <a:prstGeom prst="rect">
            <a:avLst/>
          </a:prstGeom>
          <a:solidFill>
            <a:schemeClr val="accent2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0" y="1280160"/>
            <a:ext cx="5394960" cy="5355102"/>
          </a:xfrm>
          <a:prstGeom prst="rect">
            <a:avLst/>
          </a:prstGeom>
          <a:solidFill>
            <a:schemeClr val="accent2"/>
          </a:solidFill>
          <a:ln w="12700">
            <a:solidFill>
              <a:srgbClr val="F4F6F8"/>
            </a:solidFill>
            <a:prstDash val="solid"/>
          </a:ln>
        </p:spPr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90EF81E-D22A-3BA2-CF4F-B1DB1E4327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884" y="1234280"/>
            <a:ext cx="4374163" cy="544686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7D7B71F-0651-CF86-A3EE-F8A340D059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1512" y="1280159"/>
            <a:ext cx="5109928" cy="53551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6E5AF2-0980-42C6-B29E-D36755DC3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71FABD4-9770-6753-B294-3DA0F0EDB9C7}"/>
              </a:ext>
            </a:extLst>
          </p:cNvPr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Latar Belakang &amp; Tujuan</a:t>
            </a:r>
            <a:endParaRPr lang="en-US" sz="2800" dirty="0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6F3DC56-2A0B-AA2F-D9F8-1C006A464426}"/>
              </a:ext>
            </a:extLst>
          </p:cNvPr>
          <p:cNvSpPr/>
          <p:nvPr/>
        </p:nvSpPr>
        <p:spPr>
          <a:xfrm>
            <a:off x="548640" y="1280160"/>
            <a:ext cx="5394960" cy="283464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E697950-4AA3-EB1F-D085-20B2C49D1043}"/>
              </a:ext>
            </a:extLst>
          </p:cNvPr>
          <p:cNvSpPr/>
          <p:nvPr/>
        </p:nvSpPr>
        <p:spPr>
          <a:xfrm>
            <a:off x="713544" y="1463040"/>
            <a:ext cx="4846320" cy="3657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LATAR BELAKANG</a:t>
            </a:r>
            <a:endParaRPr lang="en-US" sz="1400" dirty="0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51B1000-6C40-299E-6155-062FADD3F434}"/>
              </a:ext>
            </a:extLst>
          </p:cNvPr>
          <p:cNvSpPr/>
          <p:nvPr/>
        </p:nvSpPr>
        <p:spPr>
          <a:xfrm>
            <a:off x="822960" y="1920240"/>
            <a:ext cx="4846320" cy="201168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Mengidentifikasi pola penjualan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Menemukan pasar potensial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Kategori produk dengan permintaan tertinggi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A90EE04-8622-2643-B6C8-F45E2022B38D}"/>
              </a:ext>
            </a:extLst>
          </p:cNvPr>
          <p:cNvSpPr/>
          <p:nvPr/>
        </p:nvSpPr>
        <p:spPr>
          <a:xfrm>
            <a:off x="6217920" y="1280160"/>
            <a:ext cx="5394960" cy="283464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54C14D2-CC8C-BFDF-630A-91B3528097A5}"/>
              </a:ext>
            </a:extLst>
          </p:cNvPr>
          <p:cNvSpPr/>
          <p:nvPr/>
        </p:nvSpPr>
        <p:spPr>
          <a:xfrm>
            <a:off x="6492240" y="1463040"/>
            <a:ext cx="4846320" cy="3657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TUJUAN ANALISIS</a:t>
            </a:r>
            <a:endParaRPr lang="en-US" sz="1400" dirty="0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EA9550C-F5F0-C140-F790-720DBD69720A}"/>
              </a:ext>
            </a:extLst>
          </p:cNvPr>
          <p:cNvSpPr/>
          <p:nvPr/>
        </p:nvSpPr>
        <p:spPr>
          <a:xfrm>
            <a:off x="6492240" y="1920240"/>
            <a:ext cx="4846320" cy="201168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Membersihkan dataset agar siap dianalisis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Mengeksplorasi pola penjualan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Menjawab business question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Memberikan rekomendasi berbasis data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032D0E4-2306-3BA9-639F-028B7160310F}"/>
              </a:ext>
            </a:extLst>
          </p:cNvPr>
          <p:cNvSpPr/>
          <p:nvPr/>
        </p:nvSpPr>
        <p:spPr>
          <a:xfrm>
            <a:off x="548640" y="4572000"/>
            <a:ext cx="2011680" cy="822960"/>
          </a:xfrm>
          <a:prstGeom prst="roundRect">
            <a:avLst>
              <a:gd name="adj" fmla="val 8889"/>
            </a:avLst>
          </a:prstGeom>
          <a:solidFill>
            <a:schemeClr val="accent2"/>
          </a:solidFill>
          <a:ln/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F9FB36B-8C3E-97F0-865C-E1DAFC61273C}"/>
              </a:ext>
            </a:extLst>
          </p:cNvPr>
          <p:cNvSpPr/>
          <p:nvPr/>
        </p:nvSpPr>
        <p:spPr>
          <a:xfrm>
            <a:off x="548640" y="4572000"/>
            <a:ext cx="2011680" cy="822960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Raw Data</a:t>
            </a:r>
            <a:endParaRPr lang="en-US" sz="1300" dirty="0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413BD60-3BB6-1CF3-151B-8AAF5EB53625}"/>
              </a:ext>
            </a:extLst>
          </p:cNvPr>
          <p:cNvSpPr/>
          <p:nvPr/>
        </p:nvSpPr>
        <p:spPr>
          <a:xfrm>
            <a:off x="2560320" y="4572000"/>
            <a:ext cx="228600" cy="8229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2">
                    <a:lumMod val="5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→</a:t>
            </a:r>
            <a:endParaRPr lang="en-US" sz="1800" dirty="0">
              <a:solidFill>
                <a:schemeClr val="accent2">
                  <a:lumMod val="5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A850EE1-8627-258E-0451-820CF17A9517}"/>
              </a:ext>
            </a:extLst>
          </p:cNvPr>
          <p:cNvSpPr/>
          <p:nvPr/>
        </p:nvSpPr>
        <p:spPr>
          <a:xfrm>
            <a:off x="2788920" y="4572000"/>
            <a:ext cx="2011680" cy="822960"/>
          </a:xfrm>
          <a:prstGeom prst="roundRect">
            <a:avLst>
              <a:gd name="adj" fmla="val 8889"/>
            </a:avLst>
          </a:prstGeom>
          <a:solidFill>
            <a:schemeClr val="accent2"/>
          </a:solidFill>
          <a:ln/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21029D3-B708-817B-1275-09B3B171E6FB}"/>
              </a:ext>
            </a:extLst>
          </p:cNvPr>
          <p:cNvSpPr/>
          <p:nvPr/>
        </p:nvSpPr>
        <p:spPr>
          <a:xfrm>
            <a:off x="2788920" y="4572000"/>
            <a:ext cx="2011680" cy="8229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Cleaning</a:t>
            </a:r>
            <a:endParaRPr lang="en-US" sz="13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7947560-2670-8DF9-1203-AA983E8A2DDA}"/>
              </a:ext>
            </a:extLst>
          </p:cNvPr>
          <p:cNvSpPr/>
          <p:nvPr/>
        </p:nvSpPr>
        <p:spPr>
          <a:xfrm>
            <a:off x="4800600" y="4572000"/>
            <a:ext cx="228600" cy="8229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2">
                    <a:lumMod val="5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→</a:t>
            </a:r>
            <a:endParaRPr lang="en-US" sz="1800" dirty="0">
              <a:solidFill>
                <a:schemeClr val="accent2">
                  <a:lumMod val="5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F9A73F68-A0E7-6507-B604-5C7713D1727D}"/>
              </a:ext>
            </a:extLst>
          </p:cNvPr>
          <p:cNvSpPr/>
          <p:nvPr/>
        </p:nvSpPr>
        <p:spPr>
          <a:xfrm>
            <a:off x="5029200" y="4572000"/>
            <a:ext cx="2011680" cy="822960"/>
          </a:xfrm>
          <a:prstGeom prst="roundRect">
            <a:avLst>
              <a:gd name="adj" fmla="val 8889"/>
            </a:avLst>
          </a:prstGeom>
          <a:solidFill>
            <a:schemeClr val="accent2"/>
          </a:solidFill>
          <a:ln/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BDCA77D-5009-9A3C-5EA2-10E94B2C6F01}"/>
              </a:ext>
            </a:extLst>
          </p:cNvPr>
          <p:cNvSpPr/>
          <p:nvPr/>
        </p:nvSpPr>
        <p:spPr>
          <a:xfrm>
            <a:off x="5029200" y="4572000"/>
            <a:ext cx="2011680" cy="822960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EDA</a:t>
            </a:r>
            <a:endParaRPr lang="en-US" sz="13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EDEE05C-6B6B-2AE3-EFCC-C3E16D381DC0}"/>
              </a:ext>
            </a:extLst>
          </p:cNvPr>
          <p:cNvSpPr/>
          <p:nvPr/>
        </p:nvSpPr>
        <p:spPr>
          <a:xfrm>
            <a:off x="7040880" y="4572000"/>
            <a:ext cx="228600" cy="8229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2">
                    <a:lumMod val="5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→</a:t>
            </a:r>
            <a:endParaRPr lang="en-US" sz="1800" dirty="0">
              <a:solidFill>
                <a:schemeClr val="accent2">
                  <a:lumMod val="5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5634F33E-1E67-CC4F-EB30-5E5431D4BD5A}"/>
              </a:ext>
            </a:extLst>
          </p:cNvPr>
          <p:cNvSpPr/>
          <p:nvPr/>
        </p:nvSpPr>
        <p:spPr>
          <a:xfrm>
            <a:off x="7269480" y="4572000"/>
            <a:ext cx="2011680" cy="822960"/>
          </a:xfrm>
          <a:prstGeom prst="roundRect">
            <a:avLst>
              <a:gd name="adj" fmla="val 8889"/>
            </a:avLst>
          </a:prstGeom>
          <a:solidFill>
            <a:schemeClr val="accent2"/>
          </a:solidFill>
          <a:ln/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C11E53F-ED68-9FCD-60F6-86375D17CEA9}"/>
              </a:ext>
            </a:extLst>
          </p:cNvPr>
          <p:cNvSpPr/>
          <p:nvPr/>
        </p:nvSpPr>
        <p:spPr>
          <a:xfrm>
            <a:off x="7269480" y="4572000"/>
            <a:ext cx="2011680" cy="8229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Analysis</a:t>
            </a:r>
            <a:endParaRPr lang="en-US" sz="13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5DFA5FD-F202-E397-A871-AE8888544762}"/>
              </a:ext>
            </a:extLst>
          </p:cNvPr>
          <p:cNvSpPr/>
          <p:nvPr/>
        </p:nvSpPr>
        <p:spPr>
          <a:xfrm>
            <a:off x="9281160" y="4572000"/>
            <a:ext cx="228600" cy="8229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2">
                    <a:lumMod val="5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→</a:t>
            </a:r>
            <a:endParaRPr lang="en-US" sz="1800" dirty="0">
              <a:solidFill>
                <a:schemeClr val="accent2">
                  <a:lumMod val="5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7D9A2565-22A8-CBB2-010A-636782B7FFA9}"/>
              </a:ext>
            </a:extLst>
          </p:cNvPr>
          <p:cNvSpPr/>
          <p:nvPr/>
        </p:nvSpPr>
        <p:spPr>
          <a:xfrm>
            <a:off x="9509760" y="4572000"/>
            <a:ext cx="2011680" cy="822960"/>
          </a:xfrm>
          <a:prstGeom prst="roundRect">
            <a:avLst>
              <a:gd name="adj" fmla="val 8889"/>
            </a:avLst>
          </a:prstGeom>
          <a:solidFill>
            <a:schemeClr val="accent2"/>
          </a:solidFill>
          <a:ln/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34295D0-158D-B084-3796-001922CB1BDC}"/>
              </a:ext>
            </a:extLst>
          </p:cNvPr>
          <p:cNvSpPr/>
          <p:nvPr/>
        </p:nvSpPr>
        <p:spPr>
          <a:xfrm>
            <a:off x="9509760" y="4572000"/>
            <a:ext cx="2011680" cy="822960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Rekomendasi</a:t>
            </a:r>
            <a:endParaRPr lang="en-US" sz="13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6199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Eksplorasi Data (EDA)</a:t>
            </a:r>
            <a:endParaRPr lang="en-US" sz="2800" dirty="0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6858000" cy="2286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6492240" cy="2286000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6858000" cy="304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657600"/>
            <a:ext cx="6492240" cy="3048000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589520" y="1188720"/>
            <a:ext cx="4023360" cy="5516880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</p:sp>
      <p:sp>
        <p:nvSpPr>
          <p:cNvPr id="8" name="Text 6"/>
          <p:cNvSpPr/>
          <p:nvPr/>
        </p:nvSpPr>
        <p:spPr>
          <a:xfrm>
            <a:off x="7863840" y="1463040"/>
            <a:ext cx="3474720" cy="365760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HASIL </a:t>
            </a:r>
            <a:endParaRPr lang="en-US" sz="1400" dirty="0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863840" y="1920240"/>
            <a:ext cx="3474720" cy="3840480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Distribusi penjualan right-skewed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Pola musiman terdeteksi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Classic Cars mendominasi penjualan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Penjualan terkonsentrasi di USA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2031C1F-D2AA-3677-7C82-F1CA8A267C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80" y="1042670"/>
            <a:ext cx="5836919" cy="24320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59FCD94-5FE5-D2AC-2A7A-307BE9587E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9043" y="3657600"/>
            <a:ext cx="5164830" cy="30988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5196" y="365760"/>
            <a:ext cx="11338560" cy="640080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Business Insights</a:t>
            </a:r>
            <a:endParaRPr lang="en-US" sz="2800" dirty="0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25196" y="1280160"/>
            <a:ext cx="3566160" cy="2926080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</p:sp>
      <p:sp>
        <p:nvSpPr>
          <p:cNvPr id="4" name="Text 2"/>
          <p:cNvSpPr/>
          <p:nvPr/>
        </p:nvSpPr>
        <p:spPr>
          <a:xfrm>
            <a:off x="653796" y="1463040"/>
            <a:ext cx="3108960" cy="640080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TAHUN PENJUALAN TERTINGGI</a:t>
            </a:r>
            <a:endParaRPr lang="en-US" sz="1200" dirty="0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53796" y="2377440"/>
            <a:ext cx="3108960" cy="731520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2004</a:t>
            </a:r>
            <a:endParaRPr lang="en-US" sz="2800" dirty="0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53796" y="3291840"/>
            <a:ext cx="3108960" cy="731520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$4.72 Juta (Sep 2003–Mar 2004)</a:t>
            </a:r>
          </a:p>
        </p:txBody>
      </p:sp>
      <p:sp>
        <p:nvSpPr>
          <p:cNvPr id="7" name="Shape 5"/>
          <p:cNvSpPr/>
          <p:nvPr/>
        </p:nvSpPr>
        <p:spPr>
          <a:xfrm>
            <a:off x="4311396" y="1280160"/>
            <a:ext cx="3566160" cy="2926080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</p:sp>
      <p:sp>
        <p:nvSpPr>
          <p:cNvPr id="8" name="Text 6"/>
          <p:cNvSpPr/>
          <p:nvPr/>
        </p:nvSpPr>
        <p:spPr>
          <a:xfrm>
            <a:off x="4539996" y="1463040"/>
            <a:ext cx="3108960" cy="640080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NEGARA TERATAS</a:t>
            </a:r>
            <a:endParaRPr lang="en-US" sz="1200" dirty="0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39996" y="2377440"/>
            <a:ext cx="3108960" cy="731520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</a:t>
            </a:r>
            <a:endParaRPr lang="en-US" sz="2800" dirty="0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39996" y="3291840"/>
            <a:ext cx="3108960" cy="731520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Kontribusi terbesar — Classic Cars</a:t>
            </a:r>
          </a:p>
        </p:txBody>
      </p:sp>
      <p:sp>
        <p:nvSpPr>
          <p:cNvPr id="11" name="Shape 9"/>
          <p:cNvSpPr/>
          <p:nvPr/>
        </p:nvSpPr>
        <p:spPr>
          <a:xfrm>
            <a:off x="8197596" y="1280160"/>
            <a:ext cx="3566160" cy="2926080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</p:sp>
      <p:sp>
        <p:nvSpPr>
          <p:cNvPr id="12" name="Text 10"/>
          <p:cNvSpPr/>
          <p:nvPr/>
        </p:nvSpPr>
        <p:spPr>
          <a:xfrm>
            <a:off x="8426196" y="1463040"/>
            <a:ext cx="3108960" cy="640080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PRODUK TERLARIS</a:t>
            </a:r>
            <a:endParaRPr lang="en-US" sz="1200" dirty="0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426196" y="2377440"/>
            <a:ext cx="3108960" cy="731520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Classic Cars</a:t>
            </a:r>
            <a:endParaRPr lang="en-US" sz="2800" dirty="0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426196" y="3291840"/>
            <a:ext cx="3108960" cy="731520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11,083 unit terjual</a:t>
            </a:r>
          </a:p>
        </p:txBody>
      </p:sp>
      <p:sp>
        <p:nvSpPr>
          <p:cNvPr id="15" name="Shape 13"/>
          <p:cNvSpPr/>
          <p:nvPr/>
        </p:nvSpPr>
        <p:spPr>
          <a:xfrm>
            <a:off x="425196" y="4572000"/>
            <a:ext cx="11338560" cy="1097280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</p:sp>
      <p:sp>
        <p:nvSpPr>
          <p:cNvPr id="16" name="Text 14"/>
          <p:cNvSpPr/>
          <p:nvPr/>
        </p:nvSpPr>
        <p:spPr>
          <a:xfrm>
            <a:off x="790956" y="4572000"/>
            <a:ext cx="10607040" cy="1097280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Performa penjualan dipengaruhi oleh faktor waktu, wilayah pemasaran, dan kategori produk.</a:t>
            </a:r>
            <a:endParaRPr lang="en-US" sz="1400" dirty="0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">
            <a:extLst>
              <a:ext uri="{FF2B5EF4-FFF2-40B4-BE49-F238E27FC236}">
                <a16:creationId xmlns:a16="http://schemas.microsoft.com/office/drawing/2014/main" id="{A04F8874-A088-A37E-3F9B-968D9CBE92E5}"/>
              </a:ext>
            </a:extLst>
          </p:cNvPr>
          <p:cNvSpPr/>
          <p:nvPr/>
        </p:nvSpPr>
        <p:spPr>
          <a:xfrm>
            <a:off x="548640" y="324338"/>
            <a:ext cx="11094720" cy="681502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</p:sp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Rekomendasi &amp; Portofolio</a:t>
            </a:r>
            <a:endParaRPr lang="en-US" sz="3000" dirty="0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86400" cy="3244948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63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REKOMENDASI</a:t>
            </a:r>
            <a:endParaRPr lang="en-US" sz="1400" dirty="0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4937760" cy="21382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Improve Successful Strategy - evaluasi strategi 2004 untuk periode berikutnya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Focus on High-Contribution Market - prioritaskan USA untuk Classic Cars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Inventory Optimization - tingkatkan stok Classic Cars</a:t>
            </a:r>
          </a:p>
        </p:txBody>
      </p:sp>
      <p:sp>
        <p:nvSpPr>
          <p:cNvPr id="6" name="Shape 4"/>
          <p:cNvSpPr/>
          <p:nvPr/>
        </p:nvSpPr>
        <p:spPr>
          <a:xfrm>
            <a:off x="6339840" y="1280160"/>
            <a:ext cx="5303520" cy="3244948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  <p:txBody>
          <a:bodyPr/>
          <a:lstStyle/>
          <a:p>
            <a:endParaRPr lang="en-ID" dirty="0"/>
          </a:p>
        </p:txBody>
      </p:sp>
      <p:sp>
        <p:nvSpPr>
          <p:cNvPr id="7" name="Text 5"/>
          <p:cNvSpPr/>
          <p:nvPr/>
        </p:nvSpPr>
        <p:spPr>
          <a:xfrm>
            <a:off x="6583680" y="1463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ABOUT ME</a:t>
            </a:r>
            <a:endParaRPr lang="en-US" sz="1400" dirty="0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583680" y="19202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Galuh</a:t>
            </a:r>
            <a:r>
              <a:rPr lang="en-US" sz="13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Kurnia Pratama</a:t>
            </a:r>
          </a:p>
          <a:p>
            <a:pPr marL="0" indent="0">
              <a:buNone/>
            </a:pPr>
            <a:r>
              <a:rPr lang="en-US" sz="1300" dirty="0" err="1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Mahasiswa</a:t>
            </a:r>
            <a:r>
              <a:rPr lang="en-US" sz="13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Fisika – Universitas Negeri Surabaya</a:t>
            </a:r>
          </a:p>
        </p:txBody>
      </p:sp>
      <p:sp>
        <p:nvSpPr>
          <p:cNvPr id="9" name="Text 7"/>
          <p:cNvSpPr/>
          <p:nvPr/>
        </p:nvSpPr>
        <p:spPr>
          <a:xfrm>
            <a:off x="6583680" y="26517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SKILLS: Python · SQL · Power BI · Excel · Pandas</a:t>
            </a:r>
          </a:p>
        </p:txBody>
      </p:sp>
      <p:sp>
        <p:nvSpPr>
          <p:cNvPr id="10" name="Text 8"/>
          <p:cNvSpPr/>
          <p:nvPr/>
        </p:nvSpPr>
        <p:spPr>
          <a:xfrm>
            <a:off x="6583679" y="2837766"/>
            <a:ext cx="4881489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PORTFOLIO: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GitHub: [https://github.com/galhkoernia/retail-sales-analysis.git]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LinkedIn: [</a:t>
            </a:r>
            <a:r>
              <a:rPr lang="en-ID" sz="1200" u="sng" dirty="0">
                <a:hlinkClick r:id="rId3"/>
              </a:rPr>
              <a:t>n/galuh-kurnia-pratama-a25b9b325</a:t>
            </a:r>
            <a:r>
              <a:rPr lang="en-US" sz="12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Email: [galuhkoernia@gmail.com]</a:t>
            </a:r>
          </a:p>
        </p:txBody>
      </p:sp>
      <p:sp>
        <p:nvSpPr>
          <p:cNvPr id="13" name="Text 11"/>
          <p:cNvSpPr/>
          <p:nvPr/>
        </p:nvSpPr>
        <p:spPr>
          <a:xfrm>
            <a:off x="548640" y="57607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Data is the new oil, but it's only valuable when refined.</a:t>
            </a:r>
            <a:endParaRPr lang="en-US" sz="1400" dirty="0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247</Words>
  <Application>Microsoft Office PowerPoint</Application>
  <PresentationFormat>Widescreen</PresentationFormat>
  <Paragraphs>63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Sans Serif Collection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galh kurnia</cp:lastModifiedBy>
  <cp:revision>2</cp:revision>
  <dcterms:created xsi:type="dcterms:W3CDTF">2026-07-22T00:52:37Z</dcterms:created>
  <dcterms:modified xsi:type="dcterms:W3CDTF">2026-07-22T01:23:31Z</dcterms:modified>
</cp:coreProperties>
</file>